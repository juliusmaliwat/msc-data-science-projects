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Figtree"/>
      <p:regular r:id="rId20"/>
      <p:bold r:id="rId21"/>
      <p:italic r:id="rId22"/>
      <p:boldItalic r:id="rId23"/>
    </p:embeddedFont>
    <p:embeddedFont>
      <p:font typeface="Figtree Black"/>
      <p:bold r:id="rId24"/>
      <p:boldItalic r:id="rId25"/>
    </p:embeddedFont>
    <p:embeddedFont>
      <p:font typeface="Hanken Grotesk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374775-312E-4FCF-AD37-BC32E69AD955}">
  <a:tblStyle styleId="{29374775-312E-4FCF-AD37-BC32E69AD9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3489FF3-885D-4088-94DA-90913C8E5DA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gtree-regular.fntdata"/><Relationship Id="rId22" Type="http://schemas.openxmlformats.org/officeDocument/2006/relationships/font" Target="fonts/Figtree-italic.fntdata"/><Relationship Id="rId21" Type="http://schemas.openxmlformats.org/officeDocument/2006/relationships/font" Target="fonts/Figtree-bold.fntdata"/><Relationship Id="rId24" Type="http://schemas.openxmlformats.org/officeDocument/2006/relationships/font" Target="fonts/FigtreeBlack-bold.fntdata"/><Relationship Id="rId23" Type="http://schemas.openxmlformats.org/officeDocument/2006/relationships/font" Target="fonts/Figtree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ankenGrotesk-regular.fntdata"/><Relationship Id="rId25" Type="http://schemas.openxmlformats.org/officeDocument/2006/relationships/font" Target="fonts/FigtreeBlack-boldItalic.fntdata"/><Relationship Id="rId28" Type="http://schemas.openxmlformats.org/officeDocument/2006/relationships/font" Target="fonts/HankenGrotesk-italic.fntdata"/><Relationship Id="rId27" Type="http://schemas.openxmlformats.org/officeDocument/2006/relationships/font" Target="fonts/HankenGrotes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HankenGrotesk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5.xml"/><Relationship Id="rId33" Type="http://schemas.openxmlformats.org/officeDocument/2006/relationships/font" Target="fonts/Lato-boldItalic.fntdata"/><Relationship Id="rId10" Type="http://schemas.openxmlformats.org/officeDocument/2006/relationships/slide" Target="slides/slide4.xml"/><Relationship Id="rId32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68ca7ef4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68ca7ef4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a4fc9c06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5a4fc9c06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a4fc9c06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5a4fc9c06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5b18eb76f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5b18eb76f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5a4fc9c064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5a4fc9c064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a4fc9c064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5a4fc9c06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5a4fc9c06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5a4fc9c06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5a4fc9c064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5a4fc9c064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5a4fc9c064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5a4fc9c064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5a4fc9c064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5a4fc9c064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5a4fc9c064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5a4fc9c064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5a4fc9c064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5a4fc9c064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5b4918db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5b4918db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" name="Google Shape;3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36" name="Google Shape;36;p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" name="Google Shape;37;p5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" name="Google Shape;38;p5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56" name="Google Shape;56;p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7" name="Google Shape;57;p7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" name="Google Shape;58;p7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" name="Google Shape;59;p7"/>
          <p:cNvSpPr txBox="1"/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64" name="Google Shape;64;p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65" name="Google Shape;65;p8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8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8"/>
          <p:cNvSpPr txBox="1"/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" name="Google Shape;74;p9"/>
          <p:cNvSpPr txBox="1"/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/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82" name="Google Shape;82;p1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3" name="Google Shape;83;p11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1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" name="Google Shape;85;p11"/>
          <p:cNvSpPr txBox="1"/>
          <p:nvPr>
            <p:ph hasCustomPrompt="1" type="title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6" name="Google Shape;86;p11"/>
          <p:cNvSpPr txBox="1"/>
          <p:nvPr>
            <p:ph idx="1" type="subTitle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" name="Google Shape;94;p13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subTitle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2" type="subTitle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3" type="subTitle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4" type="subTitle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hasCustomPrompt="1"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/>
          <p:nvPr>
            <p:ph hasCustomPrompt="1"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/>
          <p:nvPr>
            <p:ph hasCustomPrompt="1"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/>
          <p:nvPr>
            <p:ph hasCustomPrompt="1"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idx="9" type="subTitle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3" type="subTitle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hasCustomPrompt="1" idx="14" type="title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hasCustomPrompt="1"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17" type="subTitle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18" type="subTitle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idx="19" type="subTitle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20" type="subTitle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1" type="subTitle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9" name="Google Shape;119;p14"/>
          <p:cNvSpPr txBox="1"/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4"/>
          <p:cNvSpPr txBox="1"/>
          <p:nvPr>
            <p:ph idx="1" type="subTitle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5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124" name="Google Shape;124;p1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5" name="Google Shape;125;p15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6" name="Google Shape;126;p15"/>
          <p:cNvSpPr txBox="1"/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1" type="subTitle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/>
          <p:nvPr>
            <p:ph idx="2" type="pic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" name="Google Shape;131;p16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132" name="Google Shape;132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3" name="Google Shape;133;p1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16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5" name="Google Shape;135;p16"/>
          <p:cNvSpPr txBox="1"/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" type="subTitle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7"/>
          <p:cNvGrpSpPr/>
          <p:nvPr/>
        </p:nvGrpSpPr>
        <p:grpSpPr>
          <a:xfrm>
            <a:off x="232200" y="232800"/>
            <a:ext cx="8937900" cy="4932875"/>
            <a:chOff x="232200" y="232800"/>
            <a:chExt cx="8937900" cy="4932875"/>
          </a:xfrm>
        </p:grpSpPr>
        <p:sp>
          <p:nvSpPr>
            <p:cNvPr id="140" name="Google Shape;140;p1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1" name="Google Shape;141;p17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7"/>
            <p:cNvCxnSpPr/>
            <p:nvPr/>
          </p:nvCxnSpPr>
          <p:spPr>
            <a:xfrm>
              <a:off x="233525" y="4913075"/>
              <a:ext cx="0" cy="25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3" name="Google Shape;143;p17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1" type="subTitle"/>
          </p:nvPr>
        </p:nvSpPr>
        <p:spPr>
          <a:xfrm>
            <a:off x="713250" y="1017725"/>
            <a:ext cx="7717500" cy="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7069475" y="3282725"/>
            <a:ext cx="3701700" cy="370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18"/>
          <p:cNvGrpSpPr/>
          <p:nvPr/>
        </p:nvGrpSpPr>
        <p:grpSpPr>
          <a:xfrm>
            <a:off x="-19050" y="232800"/>
            <a:ext cx="8930250" cy="5117250"/>
            <a:chOff x="-19050" y="232800"/>
            <a:chExt cx="8930250" cy="5117250"/>
          </a:xfrm>
        </p:grpSpPr>
        <p:sp>
          <p:nvSpPr>
            <p:cNvPr id="148" name="Google Shape;148;p1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9" name="Google Shape;149;p18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18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1" name="Google Shape;151;p18"/>
          <p:cNvSpPr txBox="1"/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>
            <a:off x="713175" y="1421525"/>
            <a:ext cx="5945400" cy="26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9" name="Google Shape;159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1" type="subTitle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9"/>
          <p:cNvSpPr txBox="1"/>
          <p:nvPr>
            <p:ph idx="2" type="subTitle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9"/>
          <p:cNvSpPr txBox="1"/>
          <p:nvPr>
            <p:ph idx="3" type="subTitle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9"/>
          <p:cNvSpPr txBox="1"/>
          <p:nvPr>
            <p:ph idx="4" type="subTitle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64" name="Google Shape;164;p19"/>
          <p:cNvSpPr txBox="1"/>
          <p:nvPr>
            <p:ph idx="5" type="subTitle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6" type="subTitle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20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169" name="Google Shape;169;p20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20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20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2" name="Google Shape;172;p20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73" name="Google Shape;173;p2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" name="Google Shape;174;p20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20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6" name="Google Shape;176;p20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1" name="Google Shape;181;p20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2" name="Google Shape;182;p20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21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186" name="Google Shape;186;p2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7" name="Google Shape;187;p21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21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9" name="Google Shape;18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 txBox="1"/>
          <p:nvPr>
            <p:ph idx="2" type="subTitle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1"/>
          <p:cNvSpPr txBox="1"/>
          <p:nvPr>
            <p:ph idx="3" type="subTitle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1"/>
          <p:cNvSpPr txBox="1"/>
          <p:nvPr>
            <p:ph idx="4" type="subTitle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4" name="Google Shape;194;p21"/>
          <p:cNvSpPr txBox="1"/>
          <p:nvPr>
            <p:ph idx="5" type="subTitle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5" name="Google Shape;195;p21"/>
          <p:cNvSpPr txBox="1"/>
          <p:nvPr>
            <p:ph idx="6" type="subTitle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22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199" name="Google Shape;199;p2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0" name="Google Shape;200;p22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2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2" name="Google Shape;20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3" name="Google Shape;203;p22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2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2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2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2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8" name="Google Shape;208;p22"/>
          <p:cNvSpPr txBox="1"/>
          <p:nvPr>
            <p:ph idx="6" type="subTitle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10" name="Google Shape;210;p22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14" name="Google Shape;214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7" name="Google Shape;217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3"/>
          <p:cNvSpPr txBox="1"/>
          <p:nvPr>
            <p:ph idx="2" type="subTitle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3"/>
          <p:cNvSpPr txBox="1"/>
          <p:nvPr>
            <p:ph idx="3" type="subTitle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3"/>
          <p:cNvSpPr txBox="1"/>
          <p:nvPr>
            <p:ph idx="4" type="subTitle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3"/>
          <p:cNvSpPr txBox="1"/>
          <p:nvPr>
            <p:ph idx="5" type="subTitle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3"/>
          <p:cNvSpPr txBox="1"/>
          <p:nvPr>
            <p:ph idx="6" type="subTitle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3"/>
          <p:cNvSpPr txBox="1"/>
          <p:nvPr>
            <p:ph idx="7" type="subTitle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5" name="Google Shape;225;p23"/>
          <p:cNvSpPr txBox="1"/>
          <p:nvPr>
            <p:ph idx="8" type="subTitle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idx="9" type="subTitle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7" name="Google Shape;227;p23"/>
          <p:cNvSpPr txBox="1"/>
          <p:nvPr>
            <p:ph idx="13" type="subTitle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8" name="Google Shape;228;p23"/>
          <p:cNvSpPr txBox="1"/>
          <p:nvPr>
            <p:ph idx="14" type="subTitle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9" name="Google Shape;229;p23"/>
          <p:cNvSpPr txBox="1"/>
          <p:nvPr>
            <p:ph idx="15" type="subTitle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/>
          <p:nvPr/>
        </p:nvSpPr>
        <p:spPr>
          <a:xfrm>
            <a:off x="6309175" y="248697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24"/>
          <p:cNvGrpSpPr/>
          <p:nvPr/>
        </p:nvGrpSpPr>
        <p:grpSpPr>
          <a:xfrm>
            <a:off x="-69525" y="539500"/>
            <a:ext cx="9455500" cy="4069200"/>
            <a:chOff x="-69525" y="539500"/>
            <a:chExt cx="9455500" cy="4069200"/>
          </a:xfrm>
        </p:grpSpPr>
        <p:grpSp>
          <p:nvGrpSpPr>
            <p:cNvPr id="233" name="Google Shape;233;p24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234" name="Google Shape;234;p24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5" name="Google Shape;235;p24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36" name="Google Shape;236;p24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7" name="Google Shape;237;p24"/>
          <p:cNvSpPr txBox="1"/>
          <p:nvPr>
            <p:ph hasCustomPrompt="1" type="title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24"/>
          <p:cNvSpPr txBox="1"/>
          <p:nvPr>
            <p:ph idx="1" type="subTitle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24"/>
          <p:cNvSpPr txBox="1"/>
          <p:nvPr>
            <p:ph hasCustomPrompt="1" idx="2" type="title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0" name="Google Shape;240;p24"/>
          <p:cNvSpPr txBox="1"/>
          <p:nvPr>
            <p:ph idx="3" type="subTitle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hasCustomPrompt="1" idx="4" type="title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2" name="Google Shape;242;p24"/>
          <p:cNvSpPr txBox="1"/>
          <p:nvPr>
            <p:ph idx="5" type="subTitle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25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246" name="Google Shape;246;p2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7" name="Google Shape;247;p25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25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26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53" name="Google Shape;253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4" name="Google Shape;254;p26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6" name="Google Shape;256;p26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Google Shape;259;p27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260" name="Google Shape;260;p27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1" name="Google Shape;261;p27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" name="Google Shape;262;p27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3" name="Google Shape;263;p27"/>
          <p:cNvSpPr txBox="1"/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4" name="Google Shape;264;p27"/>
          <p:cNvSpPr txBox="1"/>
          <p:nvPr>
            <p:ph idx="1" type="subTitle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7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sz="12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9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9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ctrTitle"/>
          </p:nvPr>
        </p:nvSpPr>
        <p:spPr>
          <a:xfrm>
            <a:off x="1087125" y="1670225"/>
            <a:ext cx="67851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Emotion Recognition in Conversation: A Comparative Study of Representation and Context Modeling</a:t>
            </a:r>
            <a:endParaRPr sz="2800"/>
          </a:p>
        </p:txBody>
      </p:sp>
      <p:sp>
        <p:nvSpPr>
          <p:cNvPr id="284" name="Google Shape;284;p30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Julius Maliwat 864520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 txBox="1"/>
          <p:nvPr>
            <p:ph type="title"/>
          </p:nvPr>
        </p:nvSpPr>
        <p:spPr>
          <a:xfrm>
            <a:off x="4152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Task: Emotion Recognition in Conversation</a:t>
            </a:r>
            <a:endParaRPr/>
          </a:p>
        </p:txBody>
      </p:sp>
      <p:sp>
        <p:nvSpPr>
          <p:cNvPr id="290" name="Google Shape;290;p31"/>
          <p:cNvSpPr/>
          <p:nvPr/>
        </p:nvSpPr>
        <p:spPr>
          <a:xfrm>
            <a:off x="4233800" y="1306400"/>
            <a:ext cx="4315800" cy="308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91" name="Google Shape;291;p31"/>
          <p:cNvSpPr txBox="1"/>
          <p:nvPr>
            <p:ph idx="1" type="subTitle"/>
          </p:nvPr>
        </p:nvSpPr>
        <p:spPr>
          <a:xfrm>
            <a:off x="4233800" y="1279350"/>
            <a:ext cx="4281600" cy="30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/>
              <a:t>A: How's the bride-to-be?  → [neutral]  </a:t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/>
              <a:t>B: Tired and stressed. This wedding is giving me a headache.  → [sadness]  </a:t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/>
              <a:t>A: Just relax. With me as your maid of honor, everything will be fine!    → [happiness]  </a:t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/>
              <a:t>B: I'm worried that everything will be chaotic!  → [fear]  </a:t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/>
              <a:t>A: Hey! I'm the tour guide. I'll take care of the Taiwanese guests.  → [neutral]  </a:t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/>
              <a:t>B: You're going to have to tell them what to do in church, what everything means...  → [neutral]  </a:t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/>
              <a:t>A: I will. Don't worry!  → [happiness]</a:t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92" name="Google Shape;292;p31"/>
          <p:cNvSpPr txBox="1"/>
          <p:nvPr>
            <p:ph idx="2" type="subTitle"/>
          </p:nvPr>
        </p:nvSpPr>
        <p:spPr>
          <a:xfrm>
            <a:off x="964400" y="1203150"/>
            <a:ext cx="3105300" cy="35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Goal: </a:t>
            </a:r>
            <a:r>
              <a:rPr lang="en" sz="1300"/>
              <a:t>Classifying the emotional state expressed in each utterance of a multi-turn dialogue, considering both content and context.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Domain</a:t>
            </a:r>
            <a:r>
              <a:rPr lang="en" sz="1300"/>
              <a:t>: </a:t>
            </a:r>
            <a:r>
              <a:rPr lang="en" sz="1300"/>
              <a:t>Conversational AI (e.g. chatbots, customer service agents) , Mental Health Support (emotion-aware assistants), Human-Computer Interaction (adaptive dialogue systems)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293" name="Google Shape;2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700" y="1509075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700" y="3071425"/>
            <a:ext cx="57270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 txBox="1"/>
          <p:nvPr>
            <p:ph type="title"/>
          </p:nvPr>
        </p:nvSpPr>
        <p:spPr>
          <a:xfrm>
            <a:off x="265176" y="2164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overview: DailyDialog</a:t>
            </a:r>
            <a:endParaRPr/>
          </a:p>
        </p:txBody>
      </p:sp>
      <p:sp>
        <p:nvSpPr>
          <p:cNvPr id="300" name="Google Shape;300;p32"/>
          <p:cNvSpPr txBox="1"/>
          <p:nvPr/>
        </p:nvSpPr>
        <p:spPr>
          <a:xfrm>
            <a:off x="812025" y="743750"/>
            <a:ext cx="4911000" cy="19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13,118 multi-turn dialogues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all manually annotated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Each dialogue involves 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2 speakers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has ~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7.9 turns on average</a:t>
            </a:r>
            <a:endParaRPr b="1"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Annotated at utterance-level with 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7 emotions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: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Neutral, Happiness, Sadness, Anger, Fear, Disgust, Surprise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Utterances average 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14.6 tokens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dialogues average 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114.7 tokens</a:t>
            </a:r>
            <a:endParaRPr b="1"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aphicFrame>
        <p:nvGraphicFramePr>
          <p:cNvPr id="301" name="Google Shape;301;p32"/>
          <p:cNvGraphicFramePr/>
          <p:nvPr/>
        </p:nvGraphicFramePr>
        <p:xfrm>
          <a:off x="6233463" y="5811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{29374775-312E-4FCF-AD37-BC32E69AD955}</a:tableStyleId>
              </a:tblPr>
              <a:tblGrid>
                <a:gridCol w="1009750"/>
                <a:gridCol w="1129325"/>
              </a:tblGrid>
              <a:tr h="274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33333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Label</a:t>
                      </a:r>
                      <a:endParaRPr sz="1600">
                        <a:solidFill>
                          <a:srgbClr val="333333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Freq. (%)</a:t>
                      </a:r>
                      <a:endParaRPr sz="1500">
                        <a:solidFill>
                          <a:srgbClr val="333333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</a:tr>
              <a:tr h="25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Neutral</a:t>
                      </a:r>
                      <a:endParaRPr b="1" sz="12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83.10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Happiness</a:t>
                      </a:r>
                      <a:endParaRPr b="1" sz="12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12.51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Surprise</a:t>
                      </a:r>
                      <a:endParaRPr b="1" sz="12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1.77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Sadness</a:t>
                      </a:r>
                      <a:endParaRPr b="1" sz="12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1.12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Anger</a:t>
                      </a:r>
                      <a:endParaRPr b="1" sz="12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0.99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Disgust</a:t>
                      </a:r>
                      <a:endParaRPr b="1" sz="12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0.34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Fear</a:t>
                      </a:r>
                      <a:endParaRPr b="1" sz="12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0.17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02" name="Google Shape;30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00" y="809775"/>
            <a:ext cx="291425" cy="2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700" y="1240575"/>
            <a:ext cx="291425" cy="2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00" y="1708363"/>
            <a:ext cx="291425" cy="29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700" y="2252250"/>
            <a:ext cx="291425" cy="291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6" name="Google Shape;306;p32"/>
          <p:cNvCxnSpPr/>
          <p:nvPr/>
        </p:nvCxnSpPr>
        <p:spPr>
          <a:xfrm flipH="1" rot="10800000">
            <a:off x="232550" y="2980825"/>
            <a:ext cx="8672700" cy="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2"/>
          <p:cNvSpPr txBox="1"/>
          <p:nvPr>
            <p:ph idx="4294967295" type="subTitle"/>
          </p:nvPr>
        </p:nvSpPr>
        <p:spPr>
          <a:xfrm>
            <a:off x="901600" y="3733425"/>
            <a:ext cx="25593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task-specific fine-tuning of sentence embeddings improve ERC performance?</a:t>
            </a:r>
            <a:endParaRPr/>
          </a:p>
        </p:txBody>
      </p:sp>
      <p:sp>
        <p:nvSpPr>
          <p:cNvPr id="308" name="Google Shape;308;p32"/>
          <p:cNvSpPr txBox="1"/>
          <p:nvPr>
            <p:ph idx="4294967295" type="subTitle"/>
          </p:nvPr>
        </p:nvSpPr>
        <p:spPr>
          <a:xfrm>
            <a:off x="5762925" y="3733425"/>
            <a:ext cx="24867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dialogue-level context help disambiguate emotional utterances?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2"/>
          <p:cNvSpPr txBox="1"/>
          <p:nvPr>
            <p:ph type="title"/>
          </p:nvPr>
        </p:nvSpPr>
        <p:spPr>
          <a:xfrm>
            <a:off x="262800" y="3035825"/>
            <a:ext cx="86424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Research Questions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310" name="Google Shape;310;p32"/>
          <p:cNvSpPr txBox="1"/>
          <p:nvPr>
            <p:ph type="title"/>
          </p:nvPr>
        </p:nvSpPr>
        <p:spPr>
          <a:xfrm>
            <a:off x="1205500" y="3426725"/>
            <a:ext cx="19515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Representation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11" name="Google Shape;311;p32"/>
          <p:cNvSpPr txBox="1"/>
          <p:nvPr>
            <p:ph type="title"/>
          </p:nvPr>
        </p:nvSpPr>
        <p:spPr>
          <a:xfrm>
            <a:off x="6082300" y="3426725"/>
            <a:ext cx="19515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Context Modeling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12" name="Google Shape;312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1788" y="3827000"/>
            <a:ext cx="479250" cy="47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63" y="3809625"/>
            <a:ext cx="479250" cy="47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3"/>
          <p:cNvSpPr txBox="1"/>
          <p:nvPr>
            <p:ph type="title"/>
          </p:nvPr>
        </p:nvSpPr>
        <p:spPr>
          <a:xfrm>
            <a:off x="249675" y="132425"/>
            <a:ext cx="77040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Experimental Design</a:t>
            </a:r>
            <a:endParaRPr sz="2700"/>
          </a:p>
        </p:txBody>
      </p:sp>
      <p:sp>
        <p:nvSpPr>
          <p:cNvPr id="319" name="Google Shape;319;p33"/>
          <p:cNvSpPr txBox="1"/>
          <p:nvPr>
            <p:ph idx="1" type="subTitle"/>
          </p:nvPr>
        </p:nvSpPr>
        <p:spPr>
          <a:xfrm>
            <a:off x="731850" y="2057025"/>
            <a:ext cx="2834700" cy="26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RoBERTa + Classification Head 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Partial fine-tuning (last 2 encoder layers) 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Utterance-level ERC (no context)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Task-adapted embeddings reused (frozen) in modular pipeline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20" name="Google Shape;320;p33"/>
          <p:cNvSpPr txBox="1"/>
          <p:nvPr>
            <p:ph idx="3" type="subTitle"/>
          </p:nvPr>
        </p:nvSpPr>
        <p:spPr>
          <a:xfrm>
            <a:off x="3644400" y="1980825"/>
            <a:ext cx="5130900" cy="25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Two-stage architecture: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1. Utterance Representation 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SBERT (frozen)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RoBERTa (frozen)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RoBERTa fine-tuned on ERC (then frozen)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2. Modeling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MLP (utterance level, no context)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• GRU+ MLP (dialogue-level, context-aware)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</a:t>
            </a:r>
            <a:r>
              <a:rPr lang="en"/>
              <a:t>• Transformer encoder + MLP (dialogue-level,                                            context-aware)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3"/>
          <p:cNvSpPr txBox="1"/>
          <p:nvPr>
            <p:ph idx="4" type="subTitle"/>
          </p:nvPr>
        </p:nvSpPr>
        <p:spPr>
          <a:xfrm>
            <a:off x="291999" y="1523625"/>
            <a:ext cx="31767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(A) </a:t>
            </a:r>
            <a:r>
              <a:rPr lang="en"/>
              <a:t>End-to-end Model</a:t>
            </a:r>
            <a:endParaRPr/>
          </a:p>
        </p:txBody>
      </p:sp>
      <p:sp>
        <p:nvSpPr>
          <p:cNvPr id="322" name="Google Shape;322;p33"/>
          <p:cNvSpPr txBox="1"/>
          <p:nvPr>
            <p:ph idx="6" type="subTitle"/>
          </p:nvPr>
        </p:nvSpPr>
        <p:spPr>
          <a:xfrm>
            <a:off x="3559503" y="1509425"/>
            <a:ext cx="49491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(B) Modular Pipeline</a:t>
            </a:r>
            <a:endParaRPr/>
          </a:p>
        </p:txBody>
      </p:sp>
      <p:cxnSp>
        <p:nvCxnSpPr>
          <p:cNvPr id="323" name="Google Shape;323;p33"/>
          <p:cNvCxnSpPr/>
          <p:nvPr/>
        </p:nvCxnSpPr>
        <p:spPr>
          <a:xfrm flipH="1">
            <a:off x="3559500" y="1409000"/>
            <a:ext cx="6900" cy="350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3"/>
          <p:cNvCxnSpPr/>
          <p:nvPr/>
        </p:nvCxnSpPr>
        <p:spPr>
          <a:xfrm flipH="1" rot="10800000">
            <a:off x="232550" y="1380625"/>
            <a:ext cx="8672700" cy="2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33"/>
          <p:cNvSpPr txBox="1"/>
          <p:nvPr/>
        </p:nvSpPr>
        <p:spPr>
          <a:xfrm>
            <a:off x="292000" y="561825"/>
            <a:ext cx="84468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We evaluate two modeling approaches for ERC: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(A) a task-adaptive end-to-end model, and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(B) a modular pipeline with 9 configurations combining 3 utterance representations and 3 modeling architectures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26" name="Google Shape;326;p33"/>
          <p:cNvSpPr txBox="1"/>
          <p:nvPr>
            <p:ph idx="1" type="subTitle"/>
          </p:nvPr>
        </p:nvSpPr>
        <p:spPr>
          <a:xfrm>
            <a:off x="4001250" y="1686725"/>
            <a:ext cx="47742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→ 9 configurations from 3 embeddings × 3 models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327" name="Google Shape;3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500" y="876664"/>
            <a:ext cx="425626" cy="425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3300" y="3837100"/>
            <a:ext cx="474324" cy="47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3300" y="2729225"/>
            <a:ext cx="474324" cy="47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1425" y="3018173"/>
            <a:ext cx="347775" cy="3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1425" y="2279866"/>
            <a:ext cx="347775" cy="3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1425" y="3551591"/>
            <a:ext cx="347775" cy="3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85275" y="3252250"/>
            <a:ext cx="1094775" cy="42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"/>
          <p:cNvSpPr txBox="1"/>
          <p:nvPr>
            <p:ph type="title"/>
          </p:nvPr>
        </p:nvSpPr>
        <p:spPr>
          <a:xfrm>
            <a:off x="362376" y="2722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Results</a:t>
            </a:r>
            <a:endParaRPr/>
          </a:p>
        </p:txBody>
      </p:sp>
      <p:graphicFrame>
        <p:nvGraphicFramePr>
          <p:cNvPr id="339" name="Google Shape;339;p34"/>
          <p:cNvGraphicFramePr/>
          <p:nvPr/>
        </p:nvGraphicFramePr>
        <p:xfrm>
          <a:off x="478400" y="84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{43489FF3-885D-4088-94DA-90913C8E5DA5}</a:tableStyleId>
              </a:tblPr>
              <a:tblGrid>
                <a:gridCol w="671650"/>
                <a:gridCol w="1434450"/>
                <a:gridCol w="679175"/>
                <a:gridCol w="745650"/>
              </a:tblGrid>
              <a:tr h="352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33333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Utt. Repr.</a:t>
                      </a:r>
                      <a:endParaRPr b="1" sz="800">
                        <a:solidFill>
                          <a:srgbClr val="33333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5250" marB="95250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3333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Model</a:t>
                      </a:r>
                      <a:endParaRPr b="1" sz="1100">
                        <a:solidFill>
                          <a:srgbClr val="33333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5250" marB="95250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33333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Macro F1</a:t>
                      </a:r>
                      <a:endParaRPr b="1" sz="900">
                        <a:solidFill>
                          <a:srgbClr val="33333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5250" marB="95250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333333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Micro F1 </a:t>
                      </a:r>
                      <a:endParaRPr b="1" sz="1000">
                        <a:solidFill>
                          <a:srgbClr val="333333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5250" marB="95250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</a:tr>
              <a:tr h="251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--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RoBERTa + CLF (joint)</a:t>
                      </a:r>
                      <a:endParaRPr sz="9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33.80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56.55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274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R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MLP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31.26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52.75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R-FT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MLP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28.98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55.42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SBERT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MLP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29.94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53.95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R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GRU + MLP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26.24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53.27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R-FT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GRU + MLP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32.32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55.56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SBERT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GRU + MLP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27.10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51.38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R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Transformer E. + MLP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31.59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54.37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R-FT</a:t>
                      </a:r>
                      <a:endParaRPr b="1"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3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Transformer E. + MLP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3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38.09</a:t>
                      </a:r>
                      <a:endParaRPr b="1"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3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55.60</a:t>
                      </a:r>
                      <a:endParaRPr b="1"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3B1"/>
                    </a:solidFill>
                  </a:tcPr>
                </a:tc>
              </a:tr>
              <a:tr h="218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SBERT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Transformer E. + MLP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29.95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53.34</a:t>
                      </a:r>
                      <a:endParaRPr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5250" marL="95250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0" name="Google Shape;340;p34"/>
          <p:cNvSpPr txBox="1"/>
          <p:nvPr>
            <p:ph idx="4294967295" type="subTitle"/>
          </p:nvPr>
        </p:nvSpPr>
        <p:spPr>
          <a:xfrm>
            <a:off x="4835650" y="1607300"/>
            <a:ext cx="38415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Macro-F1 and Micro-F1 are computed excluding the neutral class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41" name="Google Shape;34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1200" y="1636906"/>
            <a:ext cx="5727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/>
          <p:nvPr/>
        </p:nvSpPr>
        <p:spPr>
          <a:xfrm>
            <a:off x="4238400" y="2475375"/>
            <a:ext cx="535500" cy="456300"/>
          </a:xfrm>
          <a:prstGeom prst="rect">
            <a:avLst/>
          </a:prstGeom>
          <a:solidFill>
            <a:srgbClr val="00C3B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3" name="Google Shape;343;p34"/>
          <p:cNvSpPr txBox="1"/>
          <p:nvPr>
            <p:ph idx="4294967295" type="subTitle"/>
          </p:nvPr>
        </p:nvSpPr>
        <p:spPr>
          <a:xfrm>
            <a:off x="4832575" y="2369300"/>
            <a:ext cx="40527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Macro-F1: 38.09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(Modular pipeline: R-FT → Transformer E. + MLP)</a:t>
            </a:r>
            <a:endParaRPr/>
          </a:p>
        </p:txBody>
      </p:sp>
      <p:sp>
        <p:nvSpPr>
          <p:cNvPr id="344" name="Google Shape;344;p34"/>
          <p:cNvSpPr/>
          <p:nvPr/>
        </p:nvSpPr>
        <p:spPr>
          <a:xfrm>
            <a:off x="4238400" y="3313575"/>
            <a:ext cx="535500" cy="4563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5" name="Google Shape;345;p34"/>
          <p:cNvSpPr txBox="1"/>
          <p:nvPr>
            <p:ph idx="4294967295" type="subTitle"/>
          </p:nvPr>
        </p:nvSpPr>
        <p:spPr>
          <a:xfrm>
            <a:off x="4832575" y="3235025"/>
            <a:ext cx="40527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Best Micro-F1: 56.55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(End-to-end: RoBERTa + CLF (joint))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346" name="Google Shape;34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0900" y="417150"/>
            <a:ext cx="456300" cy="45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4"/>
          <p:cNvSpPr txBox="1"/>
          <p:nvPr>
            <p:ph idx="4294967295" type="subTitle"/>
          </p:nvPr>
        </p:nvSpPr>
        <p:spPr>
          <a:xfrm>
            <a:off x="4752775" y="254900"/>
            <a:ext cx="42090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R: </a:t>
            </a:r>
            <a:r>
              <a:rPr lang="en" sz="1000"/>
              <a:t>Utterance representations from frozen RoBERTa (not fine-tuned)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R-FT: </a:t>
            </a:r>
            <a:r>
              <a:rPr lang="en" sz="1000"/>
              <a:t>Utterance representations from frozen RoBERTa + CLF (joint), fine-tuned on ERC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SBERT: </a:t>
            </a:r>
            <a:r>
              <a:rPr lang="en" sz="1000"/>
              <a:t>Utterance representations from frozen Sentence-BERT (not fine-tuned)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cxnSp>
        <p:nvCxnSpPr>
          <p:cNvPr id="348" name="Google Shape;348;p34"/>
          <p:cNvCxnSpPr>
            <a:stCxn id="338" idx="0"/>
          </p:cNvCxnSpPr>
          <p:nvPr/>
        </p:nvCxnSpPr>
        <p:spPr>
          <a:xfrm>
            <a:off x="4216626" y="272225"/>
            <a:ext cx="10500" cy="101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34"/>
          <p:cNvCxnSpPr/>
          <p:nvPr/>
        </p:nvCxnSpPr>
        <p:spPr>
          <a:xfrm rot="10800000">
            <a:off x="4201200" y="1289600"/>
            <a:ext cx="465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4"/>
          <p:cNvCxnSpPr/>
          <p:nvPr/>
        </p:nvCxnSpPr>
        <p:spPr>
          <a:xfrm>
            <a:off x="4752775" y="272225"/>
            <a:ext cx="9600" cy="84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1" name="Google Shape;351;p34"/>
          <p:cNvPicPr preferRelativeResize="0"/>
          <p:nvPr/>
        </p:nvPicPr>
        <p:blipFill rotWithShape="1">
          <a:blip r:embed="rId5">
            <a:alphaModFix/>
          </a:blip>
          <a:srcRect b="37676" l="0" r="0" t="38715"/>
          <a:stretch/>
        </p:blipFill>
        <p:spPr>
          <a:xfrm rot="481797">
            <a:off x="4065800" y="4055800"/>
            <a:ext cx="2076100" cy="45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4"/>
          <p:cNvSpPr txBox="1"/>
          <p:nvPr>
            <p:ph idx="4294967295" type="subTitle"/>
          </p:nvPr>
        </p:nvSpPr>
        <p:spPr>
          <a:xfrm>
            <a:off x="6163600" y="4176950"/>
            <a:ext cx="26889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selected for final test evaluation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"/>
          <p:cNvSpPr txBox="1"/>
          <p:nvPr>
            <p:ph type="title"/>
          </p:nvPr>
        </p:nvSpPr>
        <p:spPr>
          <a:xfrm>
            <a:off x="362376" y="272225"/>
            <a:ext cx="380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Results</a:t>
            </a:r>
            <a:endParaRPr/>
          </a:p>
        </p:txBody>
      </p:sp>
      <p:graphicFrame>
        <p:nvGraphicFramePr>
          <p:cNvPr id="358" name="Google Shape;358;p35"/>
          <p:cNvGraphicFramePr/>
          <p:nvPr/>
        </p:nvGraphicFramePr>
        <p:xfrm>
          <a:off x="362375" y="11427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{29374775-312E-4FCF-AD37-BC32E69AD955}</a:tableStyleId>
              </a:tblPr>
              <a:tblGrid>
                <a:gridCol w="1572625"/>
                <a:gridCol w="1579325"/>
              </a:tblGrid>
              <a:tr h="35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33333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Macro F1</a:t>
                      </a:r>
                      <a:endParaRPr sz="1600">
                        <a:solidFill>
                          <a:srgbClr val="333333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Micro F1</a:t>
                      </a:r>
                      <a:endParaRPr sz="1500">
                        <a:solidFill>
                          <a:srgbClr val="333333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</a:tr>
              <a:tr h="25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44.94</a:t>
                      </a:r>
                      <a:endParaRPr b="1" sz="12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54.54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9" name="Google Shape;359;p35"/>
          <p:cNvGraphicFramePr/>
          <p:nvPr/>
        </p:nvGraphicFramePr>
        <p:xfrm>
          <a:off x="399063" y="26917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{29374775-312E-4FCF-AD37-BC32E69AD955}</a:tableStyleId>
              </a:tblPr>
              <a:tblGrid>
                <a:gridCol w="970450"/>
                <a:gridCol w="854300"/>
                <a:gridCol w="1214300"/>
              </a:tblGrid>
              <a:tr h="274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33333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Label</a:t>
                      </a:r>
                      <a:endParaRPr sz="1600">
                        <a:solidFill>
                          <a:srgbClr val="333333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F1</a:t>
                      </a:r>
                      <a:endParaRPr sz="1500">
                        <a:solidFill>
                          <a:srgbClr val="333333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333333"/>
                          </a:solidFill>
                          <a:latin typeface="Figtree Black"/>
                          <a:ea typeface="Figtree Black"/>
                          <a:cs typeface="Figtree Black"/>
                          <a:sym typeface="Figtree Black"/>
                        </a:rPr>
                        <a:t>Support</a:t>
                      </a:r>
                      <a:endParaRPr sz="1500">
                        <a:solidFill>
                          <a:srgbClr val="333333"/>
                        </a:solidFill>
                        <a:latin typeface="Figtree Black"/>
                        <a:ea typeface="Figtree Black"/>
                        <a:cs typeface="Figtree Black"/>
                        <a:sym typeface="Figtree Black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</a:tr>
              <a:tr h="25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Happiness</a:t>
                      </a:r>
                      <a:endParaRPr b="1" sz="12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60.69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1019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Fear</a:t>
                      </a:r>
                      <a:endParaRPr b="1" sz="12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53.33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17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Surprise</a:t>
                      </a:r>
                      <a:endParaRPr b="1" sz="12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47.62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116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Anger</a:t>
                      </a:r>
                      <a:endParaRPr b="1" sz="9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39.62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118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Disgust</a:t>
                      </a:r>
                      <a:endParaRPr b="1" sz="10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36.17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47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Sadness</a:t>
                      </a:r>
                      <a:endParaRPr b="1" sz="12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32.20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333333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102</a:t>
                      </a:r>
                      <a:endParaRPr b="1" sz="1500">
                        <a:solidFill>
                          <a:srgbClr val="333333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60" name="Google Shape;360;p35" title="heatmap_with_neutr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938" y="303725"/>
            <a:ext cx="4790434" cy="39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5"/>
          <p:cNvSpPr txBox="1"/>
          <p:nvPr/>
        </p:nvSpPr>
        <p:spPr>
          <a:xfrm>
            <a:off x="862125" y="1862725"/>
            <a:ext cx="26976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Macro-F1 and Micro-F1 are computed excluding the neutral class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362" name="Google Shape;36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375" y="1913527"/>
            <a:ext cx="427250" cy="42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5"/>
          <p:cNvSpPr txBox="1"/>
          <p:nvPr/>
        </p:nvSpPr>
        <p:spPr>
          <a:xfrm>
            <a:off x="362375" y="692525"/>
            <a:ext cx="33573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(Modular pipeline: R-FT → Transformer E. + MLP)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64" name="Google Shape;364;p35"/>
          <p:cNvSpPr txBox="1"/>
          <p:nvPr>
            <p:ph idx="4294967295" type="subTitle"/>
          </p:nvPr>
        </p:nvSpPr>
        <p:spPr>
          <a:xfrm>
            <a:off x="4623450" y="4187250"/>
            <a:ext cx="41505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Confusion matrix normalized over true labels (test set, all classes included)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365" name="Google Shape;36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1375" y="4373700"/>
            <a:ext cx="292076" cy="29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62375" y="272225"/>
            <a:ext cx="841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Utterance Representation Space</a:t>
            </a:r>
            <a:endParaRPr/>
          </a:p>
        </p:txBody>
      </p:sp>
      <p:pic>
        <p:nvPicPr>
          <p:cNvPr id="371" name="Google Shape;371;p36" title="roberta_fine_tuned_viz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200" y="1213685"/>
            <a:ext cx="4245451" cy="327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6" title="roberta_base_viz.png"/>
          <p:cNvPicPr preferRelativeResize="0"/>
          <p:nvPr/>
        </p:nvPicPr>
        <p:blipFill rotWithShape="1">
          <a:blip r:embed="rId4">
            <a:alphaModFix/>
          </a:blip>
          <a:srcRect b="0" l="0" r="0" t="3372"/>
          <a:stretch/>
        </p:blipFill>
        <p:spPr>
          <a:xfrm>
            <a:off x="304800" y="1211075"/>
            <a:ext cx="4237769" cy="327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6"/>
          <p:cNvSpPr txBox="1"/>
          <p:nvPr>
            <p:ph idx="4294967295" type="subTitle"/>
          </p:nvPr>
        </p:nvSpPr>
        <p:spPr>
          <a:xfrm>
            <a:off x="4648200" y="4501475"/>
            <a:ext cx="41817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R-FT: frozen RoBERTa + CLF (joint), fine-tuned on ERC</a:t>
            </a:r>
            <a:endParaRPr b="1" sz="1300"/>
          </a:p>
        </p:txBody>
      </p:sp>
      <p:sp>
        <p:nvSpPr>
          <p:cNvPr id="374" name="Google Shape;374;p36"/>
          <p:cNvSpPr txBox="1"/>
          <p:nvPr>
            <p:ph idx="4294967295" type="subTitle"/>
          </p:nvPr>
        </p:nvSpPr>
        <p:spPr>
          <a:xfrm>
            <a:off x="458875" y="4484700"/>
            <a:ext cx="4091400" cy="3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R: frozen RoBERTa (not fine-tuned)</a:t>
            </a:r>
            <a:endParaRPr b="1" sz="1300"/>
          </a:p>
        </p:txBody>
      </p:sp>
      <p:sp>
        <p:nvSpPr>
          <p:cNvPr id="375" name="Google Shape;375;p36"/>
          <p:cNvSpPr txBox="1"/>
          <p:nvPr>
            <p:ph idx="4294967295" type="subTitle"/>
          </p:nvPr>
        </p:nvSpPr>
        <p:spPr>
          <a:xfrm>
            <a:off x="674400" y="724875"/>
            <a:ext cx="8155500" cy="3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t-SNE projection of utterance representations on the test set, colored by true emotion labels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76" name="Google Shape;37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325" y="791079"/>
            <a:ext cx="235075" cy="2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7"/>
          <p:cNvSpPr txBox="1"/>
          <p:nvPr>
            <p:ph type="title"/>
          </p:nvPr>
        </p:nvSpPr>
        <p:spPr>
          <a:xfrm>
            <a:off x="326750" y="188325"/>
            <a:ext cx="85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Dialog-level attention analysis</a:t>
            </a:r>
            <a:endParaRPr sz="2400"/>
          </a:p>
        </p:txBody>
      </p:sp>
      <p:pic>
        <p:nvPicPr>
          <p:cNvPr id="382" name="Google Shape;382;p37" title="heatmap_attention_utterance.png"/>
          <p:cNvPicPr preferRelativeResize="0"/>
          <p:nvPr/>
        </p:nvPicPr>
        <p:blipFill rotWithShape="1">
          <a:blip r:embed="rId3">
            <a:alphaModFix/>
          </a:blip>
          <a:srcRect b="0" l="0" r="0" t="4952"/>
          <a:stretch/>
        </p:blipFill>
        <p:spPr>
          <a:xfrm>
            <a:off x="3039000" y="759475"/>
            <a:ext cx="5809199" cy="3603626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7"/>
          <p:cNvSpPr txBox="1"/>
          <p:nvPr>
            <p:ph idx="4294967295" type="subTitle"/>
          </p:nvPr>
        </p:nvSpPr>
        <p:spPr>
          <a:xfrm>
            <a:off x="3039000" y="4274125"/>
            <a:ext cx="58092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Average attention by relative position between query and context turns (i – j), grouped by predicted emotion. Aggregated over all layers and heads (test set).</a:t>
            </a:r>
            <a:endParaRPr b="1" sz="1200"/>
          </a:p>
        </p:txBody>
      </p:sp>
      <p:sp>
        <p:nvSpPr>
          <p:cNvPr id="384" name="Google Shape;384;p37"/>
          <p:cNvSpPr txBox="1"/>
          <p:nvPr/>
        </p:nvSpPr>
        <p:spPr>
          <a:xfrm>
            <a:off x="920175" y="1063150"/>
            <a:ext cx="20277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attention peaks at self and ±2, suggesting intra-speaker consistency</a:t>
            </a:r>
            <a:endParaRPr sz="1200"/>
          </a:p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908725" y="791650"/>
            <a:ext cx="1920600" cy="3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Anger, Disgust, Fear</a:t>
            </a:r>
            <a:endParaRPr sz="1400"/>
          </a:p>
        </p:txBody>
      </p:sp>
      <p:sp>
        <p:nvSpPr>
          <p:cNvPr id="386" name="Google Shape;386;p37"/>
          <p:cNvSpPr txBox="1"/>
          <p:nvPr/>
        </p:nvSpPr>
        <p:spPr>
          <a:xfrm>
            <a:off x="920175" y="2206150"/>
            <a:ext cx="21714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low attention on self, more evenly spread on ±1/±2, suggesting context dependence</a:t>
            </a:r>
            <a:endParaRPr sz="1200"/>
          </a:p>
        </p:txBody>
      </p:sp>
      <p:sp>
        <p:nvSpPr>
          <p:cNvPr id="387" name="Google Shape;387;p37"/>
          <p:cNvSpPr txBox="1"/>
          <p:nvPr>
            <p:ph type="title"/>
          </p:nvPr>
        </p:nvSpPr>
        <p:spPr>
          <a:xfrm>
            <a:off x="908725" y="1934650"/>
            <a:ext cx="1920600" cy="3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Happiness</a:t>
            </a:r>
            <a:endParaRPr sz="1400"/>
          </a:p>
        </p:txBody>
      </p:sp>
      <p:sp>
        <p:nvSpPr>
          <p:cNvPr id="388" name="Google Shape;388;p37"/>
          <p:cNvSpPr txBox="1"/>
          <p:nvPr/>
        </p:nvSpPr>
        <p:spPr>
          <a:xfrm>
            <a:off x="920175" y="3425350"/>
            <a:ext cx="20277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balanced attention on self and other speaker, reflecting both intra- and inter-speaker signals</a:t>
            </a:r>
            <a:endParaRPr sz="1200"/>
          </a:p>
        </p:txBody>
      </p:sp>
      <p:sp>
        <p:nvSpPr>
          <p:cNvPr id="389" name="Google Shape;389;p37"/>
          <p:cNvSpPr txBox="1"/>
          <p:nvPr>
            <p:ph type="title"/>
          </p:nvPr>
        </p:nvSpPr>
        <p:spPr>
          <a:xfrm>
            <a:off x="908725" y="3153850"/>
            <a:ext cx="1920600" cy="3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Sadness, Surprise</a:t>
            </a:r>
            <a:endParaRPr sz="1400"/>
          </a:p>
        </p:txBody>
      </p:sp>
      <p:pic>
        <p:nvPicPr>
          <p:cNvPr id="390" name="Google Shape;39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875" y="918975"/>
            <a:ext cx="332300" cy="33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175" y="918975"/>
            <a:ext cx="332300" cy="33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850" y="1166189"/>
            <a:ext cx="406200" cy="4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2100" y="2282355"/>
            <a:ext cx="44769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6750" y="3456550"/>
            <a:ext cx="332300" cy="33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6425" y="3728250"/>
            <a:ext cx="332300" cy="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/>
          <p:nvPr>
            <p:ph type="title"/>
          </p:nvPr>
        </p:nvSpPr>
        <p:spPr>
          <a:xfrm>
            <a:off x="265175" y="216425"/>
            <a:ext cx="817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Integrated Gradients-based context attribution </a:t>
            </a:r>
            <a:endParaRPr sz="2700"/>
          </a:p>
        </p:txBody>
      </p:sp>
      <p:pic>
        <p:nvPicPr>
          <p:cNvPr id="401" name="Google Shape;401;p38" title="heatmap_saliency.png"/>
          <p:cNvPicPr preferRelativeResize="0"/>
          <p:nvPr/>
        </p:nvPicPr>
        <p:blipFill rotWithShape="1">
          <a:blip r:embed="rId3">
            <a:alphaModFix/>
          </a:blip>
          <a:srcRect b="0" l="4935" r="1414" t="0"/>
          <a:stretch/>
        </p:blipFill>
        <p:spPr>
          <a:xfrm>
            <a:off x="2867400" y="820200"/>
            <a:ext cx="6021299" cy="363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8"/>
          <p:cNvSpPr txBox="1"/>
          <p:nvPr>
            <p:ph idx="4294967295" type="subTitle"/>
          </p:nvPr>
        </p:nvSpPr>
        <p:spPr>
          <a:xfrm>
            <a:off x="2943600" y="4350325"/>
            <a:ext cx="61950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Attribution by relative position between query and context turns (i–j), grouped by predicted emotion. Normalized IG scores reflect each context utterance’s influence on the prediction (test set).</a:t>
            </a:r>
            <a:endParaRPr b="1" sz="1000"/>
          </a:p>
        </p:txBody>
      </p:sp>
      <p:sp>
        <p:nvSpPr>
          <p:cNvPr id="403" name="Google Shape;403;p38"/>
          <p:cNvSpPr txBox="1"/>
          <p:nvPr/>
        </p:nvSpPr>
        <p:spPr>
          <a:xfrm>
            <a:off x="920175" y="1291750"/>
            <a:ext cx="20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Strong self-attribution, minimal context use</a:t>
            </a:r>
            <a:endParaRPr sz="1200"/>
          </a:p>
        </p:txBody>
      </p:sp>
      <p:sp>
        <p:nvSpPr>
          <p:cNvPr id="404" name="Google Shape;404;p38"/>
          <p:cNvSpPr txBox="1"/>
          <p:nvPr>
            <p:ph type="title"/>
          </p:nvPr>
        </p:nvSpPr>
        <p:spPr>
          <a:xfrm>
            <a:off x="908725" y="1020250"/>
            <a:ext cx="1920600" cy="3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Surprise</a:t>
            </a:r>
            <a:r>
              <a:rPr lang="en" sz="1400"/>
              <a:t>, Fear</a:t>
            </a:r>
            <a:endParaRPr sz="1400"/>
          </a:p>
        </p:txBody>
      </p:sp>
      <p:sp>
        <p:nvSpPr>
          <p:cNvPr id="405" name="Google Shape;405;p38"/>
          <p:cNvSpPr txBox="1"/>
          <p:nvPr/>
        </p:nvSpPr>
        <p:spPr>
          <a:xfrm>
            <a:off x="920175" y="2434750"/>
            <a:ext cx="22599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Self-attribution with secondary peaks at ±2, relying on intra-speaker context</a:t>
            </a:r>
            <a:endParaRPr sz="1200"/>
          </a:p>
        </p:txBody>
      </p:sp>
      <p:sp>
        <p:nvSpPr>
          <p:cNvPr id="406" name="Google Shape;406;p38"/>
          <p:cNvSpPr txBox="1"/>
          <p:nvPr>
            <p:ph type="title"/>
          </p:nvPr>
        </p:nvSpPr>
        <p:spPr>
          <a:xfrm>
            <a:off x="908725" y="2163250"/>
            <a:ext cx="1920600" cy="3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Anger, Disgust</a:t>
            </a:r>
            <a:endParaRPr sz="1400"/>
          </a:p>
        </p:txBody>
      </p:sp>
      <p:sp>
        <p:nvSpPr>
          <p:cNvPr id="407" name="Google Shape;407;p38"/>
          <p:cNvSpPr txBox="1"/>
          <p:nvPr/>
        </p:nvSpPr>
        <p:spPr>
          <a:xfrm>
            <a:off x="920175" y="3653950"/>
            <a:ext cx="20277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Self-attribution with more spread over ±1/±2, involving both speakers</a:t>
            </a:r>
            <a:endParaRPr sz="1200"/>
          </a:p>
        </p:txBody>
      </p:sp>
      <p:sp>
        <p:nvSpPr>
          <p:cNvPr id="408" name="Google Shape;408;p38"/>
          <p:cNvSpPr txBox="1"/>
          <p:nvPr>
            <p:ph type="title"/>
          </p:nvPr>
        </p:nvSpPr>
        <p:spPr>
          <a:xfrm>
            <a:off x="908725" y="3382450"/>
            <a:ext cx="1920600" cy="3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Happiness, Sadness</a:t>
            </a:r>
            <a:endParaRPr sz="1400"/>
          </a:p>
        </p:txBody>
      </p:sp>
      <p:pic>
        <p:nvPicPr>
          <p:cNvPr id="409" name="Google Shape;40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675" y="2434738"/>
            <a:ext cx="332300" cy="33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425" y="2568000"/>
            <a:ext cx="332300" cy="33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475" y="1130164"/>
            <a:ext cx="406200" cy="4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7663" y="3643851"/>
            <a:ext cx="347720" cy="3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4425" y="3880150"/>
            <a:ext cx="332300" cy="33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7675" y="1367950"/>
            <a:ext cx="332300" cy="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9"/>
          <p:cNvSpPr txBox="1"/>
          <p:nvPr>
            <p:ph type="title"/>
          </p:nvPr>
        </p:nvSpPr>
        <p:spPr>
          <a:xfrm>
            <a:off x="493775" y="445025"/>
            <a:ext cx="81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Example 1 - Context-dependent misclassification</a:t>
            </a:r>
            <a:endParaRPr sz="2600"/>
          </a:p>
        </p:txBody>
      </p:sp>
      <p:sp>
        <p:nvSpPr>
          <p:cNvPr id="420" name="Google Shape;420;p39"/>
          <p:cNvSpPr txBox="1"/>
          <p:nvPr>
            <p:ph idx="4294967295" type="subTitle"/>
          </p:nvPr>
        </p:nvSpPr>
        <p:spPr>
          <a:xfrm>
            <a:off x="465825" y="1004550"/>
            <a:ext cx="8211000" cy="33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Do you really have all of these drugs? Where do you get them from?   </a:t>
            </a:r>
            <a:br>
              <a:rPr lang="en" sz="1600"/>
            </a:br>
            <a:r>
              <a:rPr lang="en" sz="1600"/>
              <a:t>    → [true: neutral, pred: neutral] — Attn: 1.80 | IG: 2.10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I got my connections! Just tell me what you want and I’ll even give you one ounce for free.    </a:t>
            </a:r>
            <a:br>
              <a:rPr lang="en" sz="1600"/>
            </a:br>
            <a:r>
              <a:rPr lang="en" sz="1600"/>
              <a:t>    → [true: neutral, pred: neutral] — Attn: 6.35 | IG: 5.45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Sounds good! Let’s see, I want…   </a:t>
            </a:r>
            <a:br>
              <a:rPr lang="en" sz="1600"/>
            </a:br>
            <a:r>
              <a:rPr lang="en" sz="1600"/>
              <a:t>    → [true: neutral, pred: neutral] — Attn: 6.82 | IG: 4.60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/>
              <a:t>Yeah?   </a:t>
            </a:r>
            <a:br>
              <a:rPr b="1" lang="en" sz="1600"/>
            </a:br>
            <a:r>
              <a:rPr b="1" lang="en" sz="1600"/>
              <a:t>    → [true: fear, pred: surprise] — Attn: 1.70 | IG: 64.78</a:t>
            </a:r>
            <a:endParaRPr b="1"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I want you to put your hands behind your head! You are under arrest!  </a:t>
            </a:r>
            <a:br>
              <a:rPr lang="en" sz="1600"/>
            </a:br>
            <a:r>
              <a:rPr lang="en" sz="1600"/>
              <a:t>    → [true: neutral, pred: neutral] — Attn: 62.46 | IG: 12.95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421" name="Google Shape;4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75" y="1256250"/>
            <a:ext cx="401400" cy="4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75" y="2704050"/>
            <a:ext cx="401400" cy="4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75" y="3999450"/>
            <a:ext cx="401400" cy="4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775" y="1896175"/>
            <a:ext cx="401400" cy="4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775" y="3351750"/>
            <a:ext cx="401400" cy="40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0"/>
          <p:cNvSpPr txBox="1"/>
          <p:nvPr>
            <p:ph type="title"/>
          </p:nvPr>
        </p:nvSpPr>
        <p:spPr>
          <a:xfrm>
            <a:off x="265175" y="216425"/>
            <a:ext cx="830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Example 2 - Fear correctly predicted</a:t>
            </a:r>
            <a:endParaRPr sz="2300"/>
          </a:p>
        </p:txBody>
      </p:sp>
      <p:sp>
        <p:nvSpPr>
          <p:cNvPr id="431" name="Google Shape;431;p40"/>
          <p:cNvSpPr txBox="1"/>
          <p:nvPr>
            <p:ph idx="4294967295" type="subTitle"/>
          </p:nvPr>
        </p:nvSpPr>
        <p:spPr>
          <a:xfrm>
            <a:off x="341375" y="459700"/>
            <a:ext cx="8231100" cy="43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How's the bride-to-be?</a:t>
            </a:r>
            <a:br>
              <a:rPr lang="en" sz="1500"/>
            </a:br>
            <a:r>
              <a:rPr lang="en" sz="1500"/>
              <a:t> → [true: neutral, pred: neutral] — Attn: 6.19 | IG: 3.56</a:t>
            </a:r>
            <a:endParaRPr sz="15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Tired and stressed. This wedding is giving me a headache.</a:t>
            </a:r>
            <a:br>
              <a:rPr lang="en" sz="1500"/>
            </a:br>
            <a:r>
              <a:rPr lang="en" sz="1500"/>
              <a:t> → [true: sadness, pred: neutral] — Attn: 35.41 | IG: 15.29</a:t>
            </a:r>
            <a:endParaRPr sz="15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Just relax. With me as your maid of honor, everything will be fine!</a:t>
            </a:r>
            <a:br>
              <a:rPr lang="en" sz="1500"/>
            </a:br>
            <a:r>
              <a:rPr lang="en" sz="1500"/>
              <a:t> → [true: happiness, pred: neutral] — Attn: 3.47 | IG: 3.10</a:t>
            </a:r>
            <a:endParaRPr sz="15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I'm worried that everything will be chaotic!</a:t>
            </a:r>
            <a:br>
              <a:rPr b="1" lang="en" sz="1500"/>
            </a:br>
            <a:r>
              <a:rPr b="1" lang="en" sz="1500"/>
              <a:t> → [true: fear, pred: fear] — Attn: 28.55 | IG: 58.73</a:t>
            </a:r>
            <a:endParaRPr b="1" sz="15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Hey! I'm the tour guide. I'll take care of the Taiwanese guests.</a:t>
            </a:r>
            <a:br>
              <a:rPr lang="en" sz="1500"/>
            </a:br>
            <a:r>
              <a:rPr lang="en" sz="1500"/>
              <a:t> → [true: neutral, pred: neutral] — Attn: 4.32 | IG: 5.22</a:t>
            </a:r>
            <a:endParaRPr sz="15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You're going to have to tell them what to do in church, what everything means...</a:t>
            </a:r>
            <a:br>
              <a:rPr lang="en" sz="1500"/>
            </a:br>
            <a:r>
              <a:rPr lang="en" sz="1500"/>
              <a:t> → [true: neutral, pred: neutral] — Attn: 11.70 | IG: 8.43</a:t>
            </a:r>
            <a:endParaRPr sz="15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I will. Don't worry!</a:t>
            </a:r>
            <a:br>
              <a:rPr lang="en" sz="1500"/>
            </a:br>
            <a:r>
              <a:rPr lang="en" sz="1500"/>
              <a:t> → [true: happiness, pred: neutral] — Attn: 10.35 | IG: 5.66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432" name="Google Shape;4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775" y="746250"/>
            <a:ext cx="401400" cy="4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775" y="1333675"/>
            <a:ext cx="401400" cy="4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775" y="1993650"/>
            <a:ext cx="401400" cy="4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775" y="3188550"/>
            <a:ext cx="401400" cy="4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775" y="4383450"/>
            <a:ext cx="401400" cy="4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775" y="2521075"/>
            <a:ext cx="401400" cy="4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775" y="3820975"/>
            <a:ext cx="401400" cy="40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1"/>
          <p:cNvSpPr txBox="1"/>
          <p:nvPr/>
        </p:nvSpPr>
        <p:spPr>
          <a:xfrm>
            <a:off x="720000" y="2926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333333"/>
                </a:solidFill>
                <a:latin typeface="Figtree Black"/>
                <a:ea typeface="Figtree Black"/>
                <a:cs typeface="Figtree Black"/>
                <a:sym typeface="Figtree Black"/>
              </a:rPr>
              <a:t>Conclusions and Future Work</a:t>
            </a:r>
            <a:endParaRPr sz="2800">
              <a:solidFill>
                <a:srgbClr val="333333"/>
              </a:solidFill>
              <a:latin typeface="Figtree Black"/>
              <a:ea typeface="Figtree Black"/>
              <a:cs typeface="Figtree Black"/>
              <a:sym typeface="Figtree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333333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720000" y="1070250"/>
            <a:ext cx="3772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33333"/>
                </a:solidFill>
                <a:latin typeface="Figtree Black"/>
                <a:ea typeface="Figtree Black"/>
                <a:cs typeface="Figtree Black"/>
                <a:sym typeface="Figtree Black"/>
              </a:rPr>
              <a:t>Key Takeaways</a:t>
            </a:r>
            <a:endParaRPr sz="1900">
              <a:solidFill>
                <a:srgbClr val="333333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445" name="Google Shape;445;p41"/>
          <p:cNvSpPr txBox="1"/>
          <p:nvPr/>
        </p:nvSpPr>
        <p:spPr>
          <a:xfrm>
            <a:off x="4879868" y="1070250"/>
            <a:ext cx="3772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33333"/>
                </a:solidFill>
                <a:latin typeface="Figtree Black"/>
                <a:ea typeface="Figtree Black"/>
                <a:cs typeface="Figtree Black"/>
                <a:sym typeface="Figtree Black"/>
              </a:rPr>
              <a:t>Future Work</a:t>
            </a:r>
            <a:endParaRPr sz="1900">
              <a:solidFill>
                <a:srgbClr val="333333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446" name="Google Shape;446;p41"/>
          <p:cNvSpPr txBox="1"/>
          <p:nvPr/>
        </p:nvSpPr>
        <p:spPr>
          <a:xfrm>
            <a:off x="500900" y="1279350"/>
            <a:ext cx="3924900" cy="3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Transformer Enables Effective Context Modelin</a:t>
            </a:r>
            <a:r>
              <a:rPr b="1" lang="en" sz="13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g</a:t>
            </a:r>
            <a:br>
              <a:rPr b="1" lang="en" sz="13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Modeling dialog-level context with a Transformer encoder leads to the best performance overall, confirming the value of context-aware architectures for ERC.</a:t>
            </a:r>
            <a:endParaRPr>
              <a:solidFill>
                <a:srgbClr val="333333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Joint Training Still Competitive</a:t>
            </a:r>
            <a:br>
              <a:rPr lang="en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RoBERTa +Classification Head model, with partial fine-tuning of the encoder, surpasses all modular approaches except the Transformer—highlighting the effectiveness of limited task-adaptive training.</a:t>
            </a:r>
            <a:endParaRPr>
              <a:solidFill>
                <a:srgbClr val="333333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7" name="Google Shape;447;p41"/>
          <p:cNvSpPr txBox="1"/>
          <p:nvPr/>
        </p:nvSpPr>
        <p:spPr>
          <a:xfrm>
            <a:off x="4651275" y="1173975"/>
            <a:ext cx="4125600" cy="3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Incorporate Dialog Acts</a:t>
            </a:r>
            <a:br>
              <a:rPr lang="en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Use dialog act labels as auxiliary input to disambiguate emotions with overlapping surface cues (e.g. anger vs. surprise).</a:t>
            </a:r>
            <a:endParaRPr>
              <a:solidFill>
                <a:srgbClr val="333333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Joint Encoder Fine-Tuning</a:t>
            </a:r>
            <a:b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Explore end-to-end training of RoBERTa + Transformer encoder, with full or partial encoder updates to better align utterance- and dialog-level signals.</a:t>
            </a:r>
            <a:b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endParaRPr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448" name="Google Shape;44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475" y="1016900"/>
            <a:ext cx="361500" cy="3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825" y="1016900"/>
            <a:ext cx="361500" cy="361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0" name="Google Shape;450;p41"/>
          <p:cNvCxnSpPr/>
          <p:nvPr/>
        </p:nvCxnSpPr>
        <p:spPr>
          <a:xfrm flipH="1">
            <a:off x="4571900" y="1040400"/>
            <a:ext cx="8400" cy="3813600"/>
          </a:xfrm>
          <a:prstGeom prst="straightConnector1">
            <a:avLst/>
          </a:prstGeom>
          <a:noFill/>
          <a:ln cap="flat" cmpd="sng" w="19050">
            <a:solidFill>
              <a:srgbClr val="33333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2"/>
          <p:cNvSpPr txBox="1"/>
          <p:nvPr>
            <p:ph type="ctrTitle"/>
          </p:nvPr>
        </p:nvSpPr>
        <p:spPr>
          <a:xfrm>
            <a:off x="1087125" y="1670225"/>
            <a:ext cx="64623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Thanks!</a:t>
            </a:r>
            <a:endParaRPr sz="3100"/>
          </a:p>
        </p:txBody>
      </p:sp>
      <p:sp>
        <p:nvSpPr>
          <p:cNvPr id="456" name="Google Shape;456;p42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 you have any questions?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